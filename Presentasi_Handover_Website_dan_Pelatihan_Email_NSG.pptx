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B19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30368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1419778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920240"/>
            <a:ext cx="4114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0D9488"/>
                </a:solidFill>
              </a:defRPr>
            </a:pPr>
            <a:r>
              <a:t>LAPORAN PENYELESAIAN PROYEK</a:t>
            </a:r>
          </a:p>
          <a:p>
            <a:pPr>
              <a:spcAft>
                <a:spcPts val="1400"/>
              </a:spcAft>
              <a:defRPr sz="2600" b="1">
                <a:solidFill>
                  <a:srgbClr val="FFFFFF"/>
                </a:solidFill>
              </a:defRPr>
            </a:pPr>
            <a:r>
              <a:t>Website Profile &amp;</a:t>
            </a:r>
            <a:br/>
            <a:r>
              <a:t>Integrasi Email Gmail</a:t>
            </a:r>
          </a:p>
          <a:p>
            <a:pPr>
              <a:spcAft>
                <a:spcPts val="2000"/>
              </a:spcAft>
              <a:defRPr sz="1100">
                <a:solidFill>
                  <a:srgbClr val="CBD5E1"/>
                </a:solidFill>
              </a:defRPr>
            </a:pPr>
            <a:r>
              <a:t>Pemaparan Hasil Pengembangan Sistem, Sosialisasi Penggunaan Email Korporat, &amp; Komitmen Layanan Pemeliharaan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Klien: PT Nattu Global Synergy</a:t>
            </a:r>
            <a:br/>
            <a:r>
              <a:t>Domain: nattuglobalsynergy.co.id</a:t>
            </a:r>
            <a:br/>
            <a:r>
              <a:t>Periode: Agustus 2026</a:t>
            </a:r>
          </a:p>
        </p:txBody>
      </p:sp>
      <p:pic>
        <p:nvPicPr>
          <p:cNvPr id="6" name="Picture 5" descr="hero_16_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731520"/>
            <a:ext cx="5696712" cy="3200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60720" y="4206240"/>
            <a:ext cx="2743200" cy="1920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434340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B192C"/>
                </a:solidFill>
              </a:defRPr>
            </a:pPr>
            <a:r>
              <a:t>🌐 Website Status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Live di Biznet Gio Cloud</a:t>
            </a:r>
            <a:br/>
            <a:r>
              <a:t>• Next.js Static &amp; Fast LCP</a:t>
            </a:r>
            <a:br/>
            <a:r>
              <a:t>• Dual Language (ID / EN)</a:t>
            </a:r>
            <a:br/>
            <a:r>
              <a:t>• Direct CTA Email Penawaran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14232" y="4206240"/>
            <a:ext cx="2743200" cy="1920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51392" y="434340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B192C"/>
                </a:solidFill>
              </a:defRPr>
            </a:pPr>
            <a:r>
              <a:t>✉️ Email Domain Status</a:t>
            </a:r>
          </a:p>
          <a:p>
            <a:pPr>
              <a:defRPr sz="950">
                <a:solidFill>
                  <a:srgbClr val="334155"/>
                </a:solidFill>
              </a:defRPr>
            </a:pPr>
            <a:r>
              <a:t>• info@nattuglobalsynergy.co.id</a:t>
            </a:r>
            <a:br/>
            <a:r>
              <a:t>• Terintegrasi ke Gmail PIC</a:t>
            </a:r>
            <a:br/>
            <a:r>
              <a:t>• Akses Web &amp; Mobile App</a:t>
            </a:r>
            <a:br/>
            <a:r>
              <a:t>• Bebas Biaya Lisensi Bulanan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AGENDA PERTEMUAN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Ringkasan Hasil Pekerjaan &amp; Topik Rapat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347472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508760"/>
            <a:ext cx="3108960" cy="38404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01 • MODUL 1: WEBSITE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3108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B192C"/>
                </a:solidFill>
              </a:defRPr>
            </a:pPr>
            <a:r>
              <a:t>Hasil Pengembangan 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Website resmi bilingual (ID &amp; EN) telah live di internet.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Dibangun dengan teknologi modern Next.js Static Export.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Showcase 3 Divisi Bisnis, 8 Keunggulan, K3 &amp; 13 Sektor.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Direct CTA email penawaran ke info@nattuglobalsynergy.co.id.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47472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508760"/>
            <a:ext cx="3108960" cy="38404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</a:defRPr>
            </a:pPr>
            <a:r>
              <a:t>02 • MODUL 2: INTEGRASI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011680"/>
            <a:ext cx="3108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B192C"/>
                </a:solidFill>
              </a:defRPr>
            </a:pPr>
            <a:r>
              <a:t>Email Domain di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6032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Akun resmi info@nattuglobalsynergy.co.id aktif terpasang.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Dikelola langsung via antarmuka Gmail (Web &amp; Mobile App).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Panduan penggunaan sehari-hari (kirim, balas, signature).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Efisiensi biaya: bebas biaya langganan bulanan Workspace.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25880"/>
            <a:ext cx="347472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1508760"/>
            <a:ext cx="3108960" cy="384048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D97706"/>
                </a:solidFill>
              </a:defRPr>
            </a:pPr>
            <a:r>
              <a:t>03 • MODUL 3: TATA KELOLA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108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B192C"/>
                </a:solidFill>
              </a:defRPr>
            </a:pPr>
            <a:r>
              <a:t>Komitmen Maintenance &amp; SOP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560320"/>
            <a:ext cx="31089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Alur workflow pengajuan akun baru &amp; reset password.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Alur workflow update konten website &amp; perbaikan teknis.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Cakupan tanggung jawab pemeliharaan oleh Penyedia Jasa.</a:t>
            </a:r>
          </a:p>
          <a:p>
            <a:pPr>
              <a:spcAft>
                <a:spcPts val="1000"/>
              </a:spcAft>
              <a:defRPr sz="1019">
                <a:solidFill>
                  <a:srgbClr val="334155"/>
                </a:solidFill>
              </a:defRPr>
            </a:pPr>
            <a:r>
              <a:t>✔ Saluran komunikasi siaga 24/7 melalui WhatsApp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MODUL 1: WEBSITE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Spesifikasi Teknis &amp; Infrastruktur Website NSG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603504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5577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B192C"/>
                </a:solidFill>
              </a:defRPr>
            </a:pPr>
            <a:r>
              <a:t>Infrastruktur &amp; Arsitektur Produksi</a:t>
            </a:r>
          </a:p>
          <a:p>
            <a:pPr>
              <a:spcAft>
                <a:spcPts val="500"/>
              </a:spcAft>
              <a:defRPr b="1" sz="1000">
                <a:solidFill>
                  <a:srgbClr val="0B192C"/>
                </a:solidFill>
              </a:defRPr>
            </a:pPr>
            <a:r>
              <a:t>• URL Domain Resmi: </a:t>
            </a:r>
            <a:r>
              <a:rPr b="0">
                <a:solidFill>
                  <a:srgbClr val="334155"/>
                </a:solidFill>
              </a:rPr>
              <a:t>https://www.nattuglobalsynergy.co.id</a:t>
            </a:r>
          </a:p>
          <a:p>
            <a:pPr>
              <a:spcAft>
                <a:spcPts val="500"/>
              </a:spcAft>
              <a:defRPr b="1" sz="1000">
                <a:solidFill>
                  <a:srgbClr val="0B192C"/>
                </a:solidFill>
              </a:defRPr>
            </a:pPr>
            <a:r>
              <a:t>• Teknologi Core: </a:t>
            </a:r>
            <a:r>
              <a:rPr b="0">
                <a:solidFill>
                  <a:srgbClr val="334155"/>
                </a:solidFill>
              </a:rPr>
              <a:t>Next.js App Router (Static Export) + TypeScript</a:t>
            </a:r>
          </a:p>
          <a:p>
            <a:pPr>
              <a:spcAft>
                <a:spcPts val="500"/>
              </a:spcAft>
              <a:defRPr b="1" sz="1000">
                <a:solidFill>
                  <a:srgbClr val="0B192C"/>
                </a:solidFill>
              </a:defRPr>
            </a:pPr>
            <a:r>
              <a:t>• Desain &amp; Layout: </a:t>
            </a:r>
            <a:r>
              <a:rPr b="0">
                <a:solidFill>
                  <a:srgbClr val="334155"/>
                </a:solidFill>
              </a:rPr>
              <a:t>Tailwind CSS v4 — Responsif (Mobile, Tablet, Desktop)</a:t>
            </a:r>
          </a:p>
          <a:p>
            <a:pPr>
              <a:spcAft>
                <a:spcPts val="500"/>
              </a:spcAft>
              <a:defRPr b="1" sz="1000">
                <a:solidFill>
                  <a:srgbClr val="0B192C"/>
                </a:solidFill>
              </a:defRPr>
            </a:pPr>
            <a:r>
              <a:t>• Struktur Bahasa: </a:t>
            </a:r>
            <a:r>
              <a:rPr b="0">
                <a:solidFill>
                  <a:srgbClr val="334155"/>
                </a:solidFill>
              </a:rPr>
              <a:t>Dual Language: Bahasa Indonesia (ID) &amp; English (EN)</a:t>
            </a:r>
          </a:p>
          <a:p>
            <a:pPr>
              <a:spcAft>
                <a:spcPts val="500"/>
              </a:spcAft>
              <a:defRPr b="1" sz="1000">
                <a:solidFill>
                  <a:srgbClr val="0B192C"/>
                </a:solidFill>
              </a:defRPr>
            </a:pPr>
            <a:r>
              <a:t>• Server &amp; Hosting: </a:t>
            </a:r>
            <a:r>
              <a:rPr b="0">
                <a:solidFill>
                  <a:srgbClr val="334155"/>
                </a:solidFill>
              </a:rPr>
              <a:t>Biznet Gio Cloud Hosting cPanel (Performa Tinggi)</a:t>
            </a:r>
          </a:p>
          <a:p>
            <a:pPr>
              <a:spcAft>
                <a:spcPts val="500"/>
              </a:spcAft>
              <a:defRPr b="1" sz="1000">
                <a:solidFill>
                  <a:srgbClr val="0B192C"/>
                </a:solidFill>
              </a:defRPr>
            </a:pPr>
            <a:r>
              <a:t>• Protokol Keamanan: </a:t>
            </a:r>
            <a:r>
              <a:rPr b="0">
                <a:solidFill>
                  <a:srgbClr val="334155"/>
                </a:solidFill>
              </a:rPr>
              <a:t>Sertifikat SSL/TLS Aktif (HTTPS Enkripsi Penuh)</a:t>
            </a:r>
          </a:p>
          <a:p>
            <a:pPr>
              <a:spcAft>
                <a:spcPts val="500"/>
              </a:spcAft>
              <a:defRPr b="1" sz="1000">
                <a:solidFill>
                  <a:srgbClr val="0B192C"/>
                </a:solidFill>
              </a:defRPr>
            </a:pPr>
            <a:r>
              <a:t>• Mekanisme Kontak: </a:t>
            </a:r>
            <a:r>
              <a:rPr b="0">
                <a:solidFill>
                  <a:srgbClr val="334155"/>
                </a:solidFill>
              </a:rPr>
              <a:t>Direct CTA Mailto / Gmail Button terintegrasi template penawaran otomatis ke info@nattuglobalsynergy.co.id</a:t>
            </a:r>
          </a:p>
          <a:p>
            <a:pPr>
              <a:spcAft>
                <a:spcPts val="500"/>
              </a:spcAft>
              <a:defRPr b="1" sz="1000">
                <a:solidFill>
                  <a:srgbClr val="0B192C"/>
                </a:solidFill>
              </a:defRPr>
            </a:pPr>
            <a:r>
              <a:t>• Kesiapan SEO: </a:t>
            </a:r>
            <a:r>
              <a:rPr b="0">
                <a:solidFill>
                  <a:srgbClr val="334155"/>
                </a:solidFill>
              </a:rPr>
              <a:t>Semantic HTML, OpenGraph Meta, Sitemap.xml &amp; Robots.txt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1325880"/>
            <a:ext cx="4507992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16_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508760"/>
            <a:ext cx="4142232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2320" y="3977639"/>
            <a:ext cx="414223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 b="1">
                <a:solidFill>
                  <a:srgbClr val="0D9488"/>
                </a:solidFill>
              </a:defRPr>
            </a:pPr>
            <a:r>
              <a:t>Keunggulan Arsitektur Next.js Static: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⚡ Loading Cepat: Static pre-rendering tanpa jeda query database.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🔒 Keamanan Maksimal: Kebal terhadap ancaman SQL Injection.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🌐 Efisiensi Server: Sangat ringan dan hemat beban resource hosting.</a:t>
            </a:r>
          </a:p>
          <a:p>
            <a:pPr>
              <a:spcAft>
                <a:spcPts val="400"/>
              </a:spcAft>
              <a:defRPr sz="950">
                <a:solidFill>
                  <a:srgbClr val="334155"/>
                </a:solidFill>
              </a:defRPr>
            </a:pPr>
            <a:r>
              <a:t>📱 Tampilan Optimal: Adaptif di seluruh smartphone &amp; layar monitor.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STRUKTUR KONTEN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Sinkronisasi Konten &amp; Pesan Utama Website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90472"/>
            <a:ext cx="4892040" cy="347472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0D9488"/>
                </a:solidFill>
              </a:defRPr>
            </a:pPr>
            <a:r>
              <a:t>Hero &amp; Identitas Utama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92807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Eyebrow: 'Satu Mitra — Tiga Solusi'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Tagline: 'Building Strong Foundations, Delivering Sustainable Synergy.'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Subjudul: Solusi konstruksi gedung, logam &amp; suku cadang elektronik.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Indikator Kunci: 3 Divisi Utama | 13+ Sektor | K3 Komitmen Keselamatan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90472"/>
            <a:ext cx="489204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2563EB"/>
                </a:solidFill>
              </a:defRPr>
            </a:pPr>
            <a:r>
              <a:t>Tentang Kami &amp; Nilai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92807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Heading: 'Mitra Strategis Konstruksi &amp; Perdagangan Industri'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Visi: Perusahaan konstruksi &amp; perdagangan nasional terpercaya.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5 Misi: Mutu, produk berkualitas, kemitraan, SDM &amp; kepuasan.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5 Nilai: Integrity, Professionalism, Commitment, Collaboration, Continuous Improvement.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050791"/>
            <a:ext cx="4892040" cy="347472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7C3AED"/>
                </a:solidFill>
              </a:defRPr>
            </a:pPr>
            <a:r>
              <a:t>Keunggulan &amp; K3 Mutu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53128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8 Keunggulan: Kepuasan pelanggan, profesional &amp; responsif, komitmen mutu, spek sesuai, efektif-efisien, tepat waktu, integritas, fleksibilitas proyek.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K3 &amp; Kepatuhan: Keselamatan operasional, standar spesifikasi mutu, tata kelola profesional, patuh regulasi.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8620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4050791"/>
            <a:ext cx="489204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D97706"/>
                </a:solidFill>
              </a:defRPr>
            </a:pPr>
            <a:r>
              <a:t>Sektor Pelanggan &amp; Kontak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453128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13 Sektor: Instansi Pemerintah, Kementerian, BUMN, BUMD, Swasta, Kontraktor, Developer, Manufaktur, Perdagangan, Perkantoran, Edukasi, RS, Komersial.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Kontak: Alamat resmi Kemayoran &amp; CTA Direct 'Kirim Email Penawaran'.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BIDANG USAHA STRATEGIS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Showcase 3 Pilar Bisnis PT Nattu Global Synergy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347472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v1_16_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463040"/>
            <a:ext cx="3200400" cy="18013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68680" y="3401568"/>
            <a:ext cx="3200400" cy="320040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DIVISI 01 • JASA KONSTRUKSI GEDUNG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B192C"/>
                </a:solidFill>
              </a:defRPr>
            </a:pPr>
            <a:r>
              <a:t>Konstruksi Konvensional Gedung Perkantoran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32004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>
                <a:solidFill>
                  <a:srgbClr val="334155"/>
                </a:solidFill>
              </a:defRPr>
            </a:pPr>
            <a:r>
              <a:t>Pembangunan gedung baru, renovasi total/parsial, struktur beton/baja, arsitektur interior, dan instalasi Mekanikal, Elektrikal, Plumbing (MEP) berstandar mutu tinggi.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25880"/>
            <a:ext cx="347472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iv2_16_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463040"/>
            <a:ext cx="3200400" cy="180136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480560" y="3401568"/>
            <a:ext cx="3200400" cy="3200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2563EB"/>
                </a:solidFill>
              </a:defRPr>
            </a:pPr>
            <a:r>
              <a:t>DIVISI 02 • DISTRIBUSI MATERIAL LOGAM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794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B192C"/>
                </a:solidFill>
              </a:defRPr>
            </a:pPr>
            <a:r>
              <a:t>Perdagangan Besar Bahan Konstruksi dari Logam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389120"/>
            <a:ext cx="32004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>
                <a:solidFill>
                  <a:srgbClr val="334155"/>
                </a:solidFill>
              </a:defRPr>
            </a:pPr>
            <a:r>
              <a:t>Distributor bahan konstruksi logam presisi: Baja struktural, besi konstruksi, hollow, pipa baja, plat baja, wiremesh, stainless steel, dan aluminium.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1325880"/>
            <a:ext cx="347472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iv3_16_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463040"/>
            <a:ext cx="3200400" cy="180136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92440" y="3401568"/>
            <a:ext cx="3200400" cy="320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D97706"/>
                </a:solidFill>
              </a:defRPr>
            </a:pPr>
            <a:r>
              <a:t>DIVISI 03 • PENGADAAN SUKU CADANG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794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B192C"/>
                </a:solidFill>
              </a:defRPr>
            </a:pPr>
            <a:r>
              <a:t>Perdagangan Besar Suku Cadang Elektronik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4389120"/>
            <a:ext cx="32004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30">
                <a:solidFill>
                  <a:srgbClr val="334155"/>
                </a:solidFill>
              </a:defRPr>
            </a:pPr>
            <a:r>
              <a:t>Pengadaan komponen elektronik &amp; perangkat kelistrikan: Kabel, connector, sensor, relay, switch, spare part panel listrik, dan sistem otomasi industri.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MODUL 2: EMAIL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Konfigurasi Email Domain Resmi (info@nattuglobalsynergy.co.id)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530352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48463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B192C"/>
                </a:solidFill>
              </a:defRPr>
            </a:pPr>
            <a:r>
              <a:t>Akun Email Domain Resmi yang Dikonfigurasi</a:t>
            </a:r>
          </a:p>
          <a:p>
            <a:pPr>
              <a:spcAft>
                <a:spcPts val="400"/>
              </a:spcAft>
              <a:defRPr b="1" sz="1200">
                <a:solidFill>
                  <a:srgbClr val="0D9488"/>
                </a:solidFill>
              </a:defRPr>
            </a:pPr>
            <a:r>
              <a:t>✉️ info@nattuglobalsynergy.co.id</a:t>
            </a:r>
          </a:p>
          <a:p>
            <a:pPr>
              <a:spcAft>
                <a:spcPts val="400"/>
              </a:spcAft>
              <a:defRPr b="1" sz="980">
                <a:solidFill>
                  <a:srgbClr val="0B192C"/>
                </a:solidFill>
              </a:defRPr>
            </a:pPr>
            <a:r>
              <a:t>• Status Integrasi: </a:t>
            </a:r>
            <a:r>
              <a:rPr b="0">
                <a:solidFill>
                  <a:srgbClr val="334155"/>
                </a:solidFill>
              </a:rPr>
              <a:t>Aktif &amp; Terhubung Langsung ke Gmail PIC</a:t>
            </a:r>
          </a:p>
          <a:p>
            <a:pPr>
              <a:spcAft>
                <a:spcPts val="400"/>
              </a:spcAft>
              <a:defRPr b="1" sz="980">
                <a:solidFill>
                  <a:srgbClr val="0B192C"/>
                </a:solidFill>
              </a:defRPr>
            </a:pPr>
            <a:r>
              <a:t>• Peruntukan Utama: </a:t>
            </a:r>
            <a:r>
              <a:rPr b="0">
                <a:solidFill>
                  <a:srgbClr val="334155"/>
                </a:solidFill>
              </a:rPr>
              <a:t>Korespondensi resmi perusahaan, penawaran proyek dari website, kontak klien &amp; vendor</a:t>
            </a:r>
          </a:p>
          <a:p>
            <a:pPr>
              <a:spcAft>
                <a:spcPts val="400"/>
              </a:spcAft>
              <a:defRPr b="1" sz="980">
                <a:solidFill>
                  <a:srgbClr val="0B192C"/>
                </a:solidFill>
              </a:defRPr>
            </a:pPr>
            <a:r>
              <a:t>• Server Masuk (POP3): </a:t>
            </a:r>
            <a:r>
              <a:rPr b="0">
                <a:solidFill>
                  <a:srgbClr val="334155"/>
                </a:solidFill>
              </a:rPr>
              <a:t>mail.nattuglobalsynergy.co.id (Port 995 SSL)</a:t>
            </a:r>
          </a:p>
          <a:p>
            <a:pPr>
              <a:spcAft>
                <a:spcPts val="400"/>
              </a:spcAft>
              <a:defRPr b="1" sz="980">
                <a:solidFill>
                  <a:srgbClr val="0B192C"/>
                </a:solidFill>
              </a:defRPr>
            </a:pPr>
            <a:r>
              <a:t>• Server Keluar (SMTP): </a:t>
            </a:r>
            <a:r>
              <a:rPr b="0">
                <a:solidFill>
                  <a:srgbClr val="334155"/>
                </a:solidFill>
              </a:rPr>
              <a:t>mail.nattuglobalsynergy.co.id (Port 465 SSL)</a:t>
            </a:r>
          </a:p>
          <a:p>
            <a:pPr>
              <a:spcAft>
                <a:spcPts val="400"/>
              </a:spcAft>
              <a:defRPr b="1" sz="980">
                <a:solidFill>
                  <a:srgbClr val="0B192C"/>
                </a:solidFill>
              </a:defRPr>
            </a:pPr>
            <a:r>
              <a:t>• Akses Penggunaan: </a:t>
            </a:r>
            <a:r>
              <a:rPr b="0">
                <a:solidFill>
                  <a:srgbClr val="334155"/>
                </a:solidFill>
              </a:rPr>
              <a:t>Bisa digunakan melalui Web Gmail &amp; Aplikasi Gmail di Smartphone (Android / iOS)</a:t>
            </a:r>
          </a:p>
          <a:p>
            <a:pPr>
              <a:defRPr i="1" sz="930">
                <a:solidFill>
                  <a:srgbClr val="D97706"/>
                </a:solidFill>
              </a:defRPr>
            </a:pPr>
            <a:r>
              <a:t>💡 Catatan: Seluruh pesan masuk dari tombol kontak website otomatis terkirim dan tersinkronisasi ke akun email resmi ini.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25880"/>
            <a:ext cx="5239512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08760"/>
            <a:ext cx="47548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2563EB"/>
                </a:solidFill>
              </a:defRPr>
            </a:pPr>
            <a:r>
              <a:t>Keuntungan Integrasi Mail Server cPanel via Gmail:</a:t>
            </a:r>
          </a:p>
          <a:p>
            <a:pPr>
              <a:spcAft>
                <a:spcPts val="100"/>
              </a:spcAft>
              <a:defRPr b="1" sz="1019">
                <a:solidFill>
                  <a:srgbClr val="0B192C"/>
                </a:solidFill>
              </a:defRPr>
            </a:pPr>
            <a:r>
              <a:t>✔ Efisiensi Biaya Signifikan</a:t>
            </a:r>
          </a:p>
          <a:p>
            <a:pPr>
              <a:spcAft>
                <a:spcPts val="600"/>
              </a:spcAft>
              <a:defRPr sz="930">
                <a:solidFill>
                  <a:srgbClr val="334155"/>
                </a:solidFill>
              </a:defRPr>
            </a:pPr>
            <a:r>
              <a:t>Bebas biaya langganan bulanan Google Workspace ($6/user/bulan) dengan tetap memakai domain resmi @nattuglobalsynergy.co.id.</a:t>
            </a:r>
          </a:p>
          <a:p>
            <a:pPr>
              <a:spcAft>
                <a:spcPts val="100"/>
              </a:spcAft>
              <a:defRPr b="1" sz="1019">
                <a:solidFill>
                  <a:srgbClr val="0B192C"/>
                </a:solidFill>
              </a:defRPr>
            </a:pPr>
            <a:r>
              <a:t>✔ Antarmuka Sangat Familiar</a:t>
            </a:r>
          </a:p>
          <a:p>
            <a:pPr>
              <a:spcAft>
                <a:spcPts val="600"/>
              </a:spcAft>
              <a:defRPr sz="930">
                <a:solidFill>
                  <a:srgbClr val="334155"/>
                </a:solidFill>
              </a:defRPr>
            </a:pPr>
            <a:r>
              <a:t>Tim NSG mengoperasikan email menggunakan antarmuka Gmail yang sudah terbiasa dipakai setiap hari.</a:t>
            </a:r>
          </a:p>
          <a:p>
            <a:pPr>
              <a:spcAft>
                <a:spcPts val="100"/>
              </a:spcAft>
              <a:defRPr b="1" sz="1019">
                <a:solidFill>
                  <a:srgbClr val="0B192C"/>
                </a:solidFill>
              </a:defRPr>
            </a:pPr>
            <a:r>
              <a:t>✔ Sinkronisasi Real-time</a:t>
            </a:r>
          </a:p>
          <a:p>
            <a:pPr>
              <a:spcAft>
                <a:spcPts val="600"/>
              </a:spcAft>
              <a:defRPr sz="930">
                <a:solidFill>
                  <a:srgbClr val="334155"/>
                </a:solidFill>
              </a:defRPr>
            </a:pPr>
            <a:r>
              <a:t>Otomatis tersambung di laptop, browser, serta aplikasi Gmail smartphone Android &amp; iOS.</a:t>
            </a:r>
          </a:p>
          <a:p>
            <a:pPr>
              <a:spcAft>
                <a:spcPts val="100"/>
              </a:spcAft>
              <a:defRPr b="1" sz="1019">
                <a:solidFill>
                  <a:srgbClr val="0B192C"/>
                </a:solidFill>
              </a:defRPr>
            </a:pPr>
            <a:r>
              <a:t>✔ Proteksi Anti-Spam Google</a:t>
            </a:r>
          </a:p>
          <a:p>
            <a:pPr>
              <a:spcAft>
                <a:spcPts val="600"/>
              </a:spcAft>
              <a:defRPr sz="930">
                <a:solidFill>
                  <a:srgbClr val="334155"/>
                </a:solidFill>
              </a:defRPr>
            </a:pPr>
            <a:r>
              <a:t>Menikmati filter spam dan sistem keamanan kelas dunia dari Google.</a:t>
            </a:r>
          </a:p>
          <a:p>
            <a:pPr>
              <a:spcAft>
                <a:spcPts val="100"/>
              </a:spcAft>
              <a:defRPr b="1" sz="1019">
                <a:solidFill>
                  <a:srgbClr val="0B192C"/>
                </a:solidFill>
              </a:defRPr>
            </a:pPr>
            <a:r>
              <a:t>✔ Kapasitas Server Terjaga</a:t>
            </a:r>
          </a:p>
          <a:p>
            <a:pPr>
              <a:spcAft>
                <a:spcPts val="600"/>
              </a:spcAft>
              <a:defRPr sz="930">
                <a:solidFill>
                  <a:srgbClr val="334155"/>
                </a:solidFill>
              </a:defRPr>
            </a:pPr>
            <a:r>
              <a:t>Menggunakan penyimpanan stabil di cloud server cPanel Biznet Gio.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PANDUAN OPERASIONAL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Panduan Penggunaan Email Sehari-hari di Gmail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90472"/>
            <a:ext cx="4892040" cy="347472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0D9488"/>
                </a:solidFill>
              </a:defRPr>
            </a:pPr>
            <a:r>
              <a:t>1. Mengirim Email Resmi (Compose)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92807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Klik tombol 'Tulis' / 'Compose' di aplikasi Gmail.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Klik baris pengirim ('Dari' / 'From'), lalu pilih: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  👉 info@nattuglobalsynergy.co.id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Email yang diterima klien akan tampil resmi dari domain PT Nattu Global Synergy.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Tips: Sudah disetel sebagai default sender otomatis.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90472"/>
            <a:ext cx="489204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2563EB"/>
                </a:solidFill>
              </a:defRPr>
            </a:pPr>
            <a:r>
              <a:t>2. Membalas Email Klien (Reply)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92807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Buka email yang masuk dari klien/partner.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Klik tombol 'Balas' / 'Reply' seperti biasa.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Sistem Gmail otomatis membalas dari alamat email domain yang sama saat email diterima.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Menghilangkan risiko keliru membalas dari email pribadi.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050791"/>
            <a:ext cx="4892040" cy="347472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7C3AED"/>
                </a:solidFill>
              </a:defRPr>
            </a:pPr>
            <a:r>
              <a:t>3. Akses Praktis di Smartphone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53128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Buka aplikasi Gmail di HP (Android atau iPhone).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Email masuk otomatis muncul via push notification.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Saat mengirim email baru dari HP, cukup pilih pengirim email domain NSG.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Akses darurat Webmail: mail.nattuglobalsynergy.co.id:2096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8620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4050791"/>
            <a:ext cx="489204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D97706"/>
                </a:solidFill>
              </a:defRPr>
            </a:pPr>
            <a:r>
              <a:t>4. Standar Tanda Tangan (Signature)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453128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Gunakan format signature resmi seragam di akhir email: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  - PT Nattu Global Synergy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  - Alamat: Kemayoran, Jakarta Pusat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  - Website: www.nattuglobalsynergy.co.id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  - Email: info@nattuglobalsynergy.co.id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TATA KELOLA LAYANAN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Workflow Pengajuan &amp; Dukungan Layanan Email (SOP)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10725912" cy="15727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D9488"/>
                </a:solidFill>
              </a:defRPr>
            </a:pPr>
            <a:r>
              <a:t>Workflow 1: Penambahan Akun Email Baru (Jika Dibutuhkan ke Depan)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764792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1: Pengajuan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Kirim Nama Lengkap, Divisi &amp; usulan user ke WA Group.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737360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1764792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2: Konfigurasi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Penyedia Jasa membuat akun cPanel &amp; konfigurasi integrasi.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737360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1764792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3: Penyerahan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Kredensial login diserahkan ke PIC secara aman.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1737360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68511" y="1764792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4: Akun Siap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Email aktif &amp; terhubung di Gmail. [SLA: Maks 1x24 Jam]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99232"/>
            <a:ext cx="10725912" cy="15727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90672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2563EB"/>
                </a:solidFill>
              </a:defRPr>
            </a:pPr>
            <a:r>
              <a:t>Workflow 2: Reset Password / Lupa Sandi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410712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38144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1: Permintaan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Lapor alamat email &amp; konfirmasi verifikasi PIC NSG.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3410712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2" y="3438144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2: Verifikasi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Penyedia Jasa memverifikasi identitas akun di server.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0" y="3410712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08192" y="3438144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3: Reset Sandi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Password baru dibuatkan secara acak &amp; aman.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95359" y="3410712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68511" y="3438144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4: Selesai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Sandi diserahkan langsung ke user. [SLA: 1 - 2 Jam]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672584"/>
            <a:ext cx="10725912" cy="15727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764024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D97706"/>
                </a:solidFill>
              </a:defRPr>
            </a:pPr>
            <a:r>
              <a:t>Workflow 3: Penanganan Kendala Teknis / Bounce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5084064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552" y="5111496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1: Lapor Kendala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Kirim screenshot error / laporan email gagal terkirim.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0" y="5084064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47872" y="5111496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2: Investigasi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Penyedia Jasa memeriksa log server &amp; DNS SPF/DKIM.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5084064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08192" y="5111496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3: Penanganan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Penyelesaian masalah konfigurasi atau kuota mail.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95359" y="5084064"/>
            <a:ext cx="2450592" cy="102412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68511" y="5111496"/>
            <a:ext cx="230428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30" b="1">
                <a:solidFill>
                  <a:srgbClr val="0B192C"/>
                </a:solidFill>
              </a:defRPr>
            </a:pPr>
            <a:r>
              <a:t>Step 4: Normal</a:t>
            </a:r>
          </a:p>
          <a:p>
            <a:pPr>
              <a:defRPr sz="830">
                <a:solidFill>
                  <a:srgbClr val="334155"/>
                </a:solidFill>
              </a:defRPr>
            </a:pPr>
            <a:r>
              <a:t>Uji kirim-terima berhasil &amp; laporan selesai. [SLA: 1 - 4 Jam]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TATA KELOLA LAYANAN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Workflow Pengajuan Update Website &amp; Bug Fixing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6217920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57607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B192C"/>
                </a:solidFill>
              </a:defRPr>
            </a:pPr>
            <a:r>
              <a:t>Alur Kerja Update Konten &amp; Perbaikan Website</a:t>
            </a:r>
          </a:p>
          <a:p>
            <a:pPr>
              <a:spcAft>
                <a:spcPts val="200"/>
              </a:spcAft>
              <a:defRPr b="1" sz="1100">
                <a:solidFill>
                  <a:srgbClr val="0D9488"/>
                </a:solidFill>
              </a:defRPr>
            </a:pPr>
            <a:r>
              <a:t>Workflow A: Minor Update (Teks, Nomor Kontak, Foto)</a:t>
            </a:r>
          </a:p>
          <a:p>
            <a:pPr>
              <a:spcAft>
                <a:spcPts val="200"/>
              </a:spcAft>
              <a:defRPr sz="930">
                <a:solidFill>
                  <a:srgbClr val="334155"/>
                </a:solidFill>
              </a:defRPr>
            </a:pPr>
            <a:r>
              <a:t>  1. Pengajuan: Kirim materi final teks/foto pengganti ke WA Group.</a:t>
            </a:r>
          </a:p>
          <a:p>
            <a:pPr>
              <a:spcAft>
                <a:spcPts val="200"/>
              </a:spcAft>
              <a:defRPr sz="930">
                <a:solidFill>
                  <a:srgbClr val="334155"/>
                </a:solidFill>
              </a:defRPr>
            </a:pPr>
            <a:r>
              <a:t>  2. Pengerjaan: Penyedia Jasa mengupdate file konten bilingual (ID &amp; EN).</a:t>
            </a:r>
          </a:p>
          <a:p>
            <a:pPr>
              <a:spcAft>
                <a:spcPts val="200"/>
              </a:spcAft>
              <a:defRPr sz="930">
                <a:solidFill>
                  <a:srgbClr val="334155"/>
                </a:solidFill>
              </a:defRPr>
            </a:pPr>
            <a:r>
              <a:t>  3. Build &amp; Test: Uji coba otomatis (npm test) &amp; kompilasi static.</a:t>
            </a:r>
          </a:p>
          <a:p>
            <a:pPr>
              <a:spcAft>
                <a:spcPts val="200"/>
              </a:spcAft>
              <a:defRPr sz="930">
                <a:solidFill>
                  <a:srgbClr val="334155"/>
                </a:solidFill>
              </a:defRPr>
            </a:pPr>
            <a:r>
              <a:t>  4. Deployment: Upload langsung ke server Biznet Gio cPanel.</a:t>
            </a:r>
          </a:p>
          <a:p>
            <a:pPr>
              <a:spcAft>
                <a:spcPts val="600"/>
              </a:spcAft>
              <a:defRPr sz="930">
                <a:solidFill>
                  <a:srgbClr val="334155"/>
                </a:solidFill>
              </a:defRPr>
            </a:pPr>
            <a:r>
              <a:t>  👉 Target SLA Pengerjaan: 1 - 2 Hari Kerja</a:t>
            </a:r>
          </a:p>
          <a:p>
            <a:pPr>
              <a:spcAft>
                <a:spcPts val="200"/>
              </a:spcAft>
              <a:defRPr b="1" sz="1100">
                <a:solidFill>
                  <a:srgbClr val="DC2626"/>
                </a:solidFill>
              </a:defRPr>
            </a:pPr>
            <a:r>
              <a:t>Workflow B: Bug Fixing / Insiden Teknis</a:t>
            </a:r>
          </a:p>
          <a:p>
            <a:pPr>
              <a:spcAft>
                <a:spcPts val="200"/>
              </a:spcAft>
              <a:defRPr sz="930">
                <a:solidFill>
                  <a:srgbClr val="334155"/>
                </a:solidFill>
              </a:defRPr>
            </a:pPr>
            <a:r>
              <a:t>  1. Laporan: Kirim screenshot error &amp; informasi halaman terdampak.</a:t>
            </a:r>
          </a:p>
          <a:p>
            <a:pPr>
              <a:spcAft>
                <a:spcPts val="200"/>
              </a:spcAft>
              <a:defRPr sz="930">
                <a:solidFill>
                  <a:srgbClr val="334155"/>
                </a:solidFill>
              </a:defRPr>
            </a:pPr>
            <a:r>
              <a:t>  2. Troubleshooting: Analisis akar masalah &amp; perbaikan kode langsung.</a:t>
            </a:r>
          </a:p>
          <a:p>
            <a:pPr>
              <a:spcAft>
                <a:spcPts val="200"/>
              </a:spcAft>
              <a:defRPr sz="930">
                <a:solidFill>
                  <a:srgbClr val="334155"/>
                </a:solidFill>
              </a:defRPr>
            </a:pPr>
            <a:r>
              <a:t>  3. Verifikasi: Pengetesan fungsi di berbagai browser &amp; perangkat.</a:t>
            </a:r>
          </a:p>
          <a:p>
            <a:pPr>
              <a:spcAft>
                <a:spcPts val="200"/>
              </a:spcAft>
              <a:defRPr sz="930">
                <a:solidFill>
                  <a:srgbClr val="334155"/>
                </a:solidFill>
              </a:defRPr>
            </a:pPr>
            <a:r>
              <a:t>  4. Live Patch: Rilis perbaikan ke server produksi.</a:t>
            </a:r>
          </a:p>
          <a:p>
            <a:pPr>
              <a:spcAft>
                <a:spcPts val="600"/>
              </a:spcAft>
              <a:defRPr sz="930">
                <a:solidFill>
                  <a:srgbClr val="334155"/>
                </a:solidFill>
              </a:defRPr>
            </a:pPr>
            <a:r>
              <a:t>  👉 Target SLA Pengerjaan: 2 - 6 Jam Kerja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325880"/>
            <a:ext cx="4325112" cy="5029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508760"/>
            <a:ext cx="3977639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50" b="1">
                <a:solidFill>
                  <a:srgbClr val="D97706"/>
                </a:solidFill>
              </a:defRPr>
            </a:pPr>
            <a:r>
              <a:t>Format Template Tiket Request di WA</a:t>
            </a:r>
          </a:p>
          <a:p>
            <a:pPr>
              <a:spcAft>
                <a:spcPts val="250"/>
              </a:spcAft>
              <a:defRPr b="1" sz="1000">
                <a:solidFill>
                  <a:srgbClr val="0B192C"/>
                </a:solidFill>
              </a:defRPr>
            </a:pPr>
            <a:r>
              <a:t>📋 Format Siap Pakai di WhatsApp Group:</a:t>
            </a:r>
          </a:p>
          <a:p>
            <a:pPr>
              <a:spcAft>
                <a:spcPts val="250"/>
              </a:spcAft>
              <a:defRPr sz="800">
                <a:solidFill>
                  <a:srgbClr val="DAE1E9"/>
                </a:solidFill>
              </a:defRPr>
            </a:pPr>
            <a:r>
              <a:t>────────────────────────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Jenis Request: [Update Teks / Foto / Bug Fix]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Seksi / Halaman: [misal: Divisi 1 / Footer]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Detail Lama: [Teks/data sebelum diubah]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Detail Baru: [Teks/data pengganti]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Lampiran File: [Lampirkan foto/screenshot]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• Prioritas: [Normal / Urgent]</a:t>
            </a:r>
          </a:p>
          <a:p>
            <a:pPr>
              <a:spcAft>
                <a:spcPts val="250"/>
              </a:spcAft>
              <a:defRPr sz="800">
                <a:solidFill>
                  <a:srgbClr val="DAE1E9"/>
                </a:solidFill>
              </a:defRPr>
            </a:pPr>
            <a:r>
              <a:t>────────────────────────</a:t>
            </a:r>
          </a:p>
          <a:p>
            <a:pPr>
              <a:spcAft>
                <a:spcPts val="250"/>
              </a:spcAft>
              <a:defRPr b="1" sz="1000">
                <a:solidFill>
                  <a:srgbClr val="D97706"/>
                </a:solidFill>
              </a:defRPr>
            </a:pPr>
            <a:r>
              <a:t>💡 Catatan Penting:</a:t>
            </a:r>
          </a:p>
          <a:p>
            <a:pPr>
              <a:spcAft>
                <a:spcPts val="250"/>
              </a:spcAft>
              <a:defRPr sz="930">
                <a:solidFill>
                  <a:srgbClr val="334155"/>
                </a:solidFill>
              </a:defRPr>
            </a:pPr>
            <a:r>
              <a:t>Untuk update teks, disarankan materi sudah final (disetujui manajemen) untuk efisiensi pengerjaan.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292608"/>
            <a:ext cx="2926080" cy="292608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0D9488"/>
                </a:solidFill>
              </a:defRPr>
            </a:pPr>
            <a:r>
              <a:t>KOMITMEN LAYANAN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B192C"/>
                </a:solidFill>
              </a:defRPr>
            </a:pPr>
            <a:r>
              <a:t>Cakupan Layanan Pemeliharaan Sistem oleh Penyedia Jasa</a:t>
            </a:r>
          </a:p>
        </p:txBody>
      </p:sp>
      <p:pic>
        <p:nvPicPr>
          <p:cNvPr id="5" name="Picture 4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256032"/>
            <a:ext cx="1120877" cy="6858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132588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490472"/>
            <a:ext cx="4892040" cy="347472"/>
          </a:xfrm>
          <a:prstGeom prst="roundRect">
            <a:avLst/>
          </a:prstGeom>
          <a:solidFill>
            <a:srgbClr val="EEFBF9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0D9488"/>
                </a:solidFill>
              </a:defRPr>
            </a:pPr>
            <a:r>
              <a:t>1. Pemantauan Server &amp; Uptime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92807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Penyedia Jasa memonitor performa server Biznet Gio secara berkala.</a:t>
            </a:r>
          </a:p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Menjaga website selalu online dan dapat diakses publik 24 jam.</a:t>
            </a:r>
          </a:p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Penanganan cepat jika terjadi gangguan infrastruktur hosting.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490472"/>
            <a:ext cx="4892040" cy="3474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2563EB"/>
                </a:solidFill>
              </a:defRPr>
            </a:pPr>
            <a:r>
              <a:t>2. Pemeliharaan Keamanan &amp; SSL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92807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Menjaga keaktifan sertifikat SSL/TLS (protokol HTTPS aman).</a:t>
            </a:r>
          </a:p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Pemantauan keamanan mail server cPanel dari spam &amp; blacklist.</a:t>
            </a:r>
          </a:p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Pembaruan dependensi sistem keamanan website secara berkala.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4050791"/>
            <a:ext cx="4892040" cy="347472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7C3AED"/>
                </a:solidFill>
              </a:defRPr>
            </a:pPr>
            <a:r>
              <a:t>3. Manajemen Backup &amp;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53128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Backup berkala seluruh source code dan aset multimedia website.</a:t>
            </a:r>
          </a:p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Penyimpanan arsip proyek aman di repositori versi (Git).</a:t>
            </a:r>
          </a:p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Jaminan pemulihan cepat (disaster recovery) jika terjadi kendala.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86200"/>
            <a:ext cx="5257800" cy="2423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5080" y="4050791"/>
            <a:ext cx="4892040" cy="347472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D97706"/>
                </a:solidFill>
              </a:defRPr>
            </a:pPr>
            <a:r>
              <a:t>4. Pengawalan Siklus Domain &amp; Hosting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453128"/>
            <a:ext cx="4892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Penyedia Jasa mengawal dan mengingatkan jadwal perpanjangan tahunan domain .co.id dan hosting Biznet Gio sebelum jatuh tempo.</a:t>
            </a:r>
          </a:p>
          <a:p>
            <a:pPr>
              <a:spcAft>
                <a:spcPts val="350"/>
              </a:spcAft>
              <a:defRPr sz="930">
                <a:solidFill>
                  <a:srgbClr val="334155"/>
                </a:solidFill>
              </a:defRPr>
            </a:pPr>
            <a:r>
              <a:t>• Menjamin kelangsungan operasional digital PT Nattu Global Synergy.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AE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591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097280"/>
            <a:ext cx="1419778" cy="868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2057400"/>
            <a:ext cx="9784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800" b="1">
                <a:solidFill>
                  <a:srgbClr val="0B192C"/>
                </a:solidFill>
              </a:defRPr>
            </a:pPr>
            <a:r>
              <a:t>TERIMA KASIH</a:t>
            </a:r>
          </a:p>
          <a:p>
            <a:pPr>
              <a:spcAft>
                <a:spcPts val="1600"/>
              </a:spcAft>
              <a:defRPr sz="1600" b="1">
                <a:solidFill>
                  <a:srgbClr val="0D9488"/>
                </a:solidFill>
              </a:defRPr>
            </a:pPr>
            <a:r>
              <a:t>Sesi Tanya Jawab (Q&amp;A) &amp; Diskusi Bersama</a:t>
            </a:r>
          </a:p>
          <a:p>
            <a:pPr>
              <a:spcAft>
                <a:spcPts val="800"/>
              </a:spcAft>
              <a:defRPr sz="1200" b="1">
                <a:solidFill>
                  <a:srgbClr val="0B192C"/>
                </a:solidFill>
              </a:defRPr>
            </a:pPr>
            <a:r>
              <a:t>Saluran Komunikasi Dukungan Layanan &amp; Pemeliharaan Sistem:</a:t>
            </a:r>
          </a:p>
          <a:p>
            <a:pPr>
              <a:spcAft>
                <a:spcPts val="400"/>
              </a:spcAft>
              <a:defRPr b="1" sz="1050">
                <a:solidFill>
                  <a:srgbClr val="0D9488"/>
                </a:solidFill>
              </a:defRPr>
            </a:pPr>
            <a:r>
              <a:t>💬 WhatsApp Group Resmi: </a:t>
            </a:r>
            <a:r>
              <a:rPr b="0">
                <a:solidFill>
                  <a:srgbClr val="0B192C"/>
                </a:solidFill>
              </a:rPr>
              <a:t>NSG Project &amp; Maintenance</a:t>
            </a:r>
          </a:p>
          <a:p>
            <a:pPr>
              <a:spcAft>
                <a:spcPts val="400"/>
              </a:spcAft>
              <a:defRPr b="1" sz="1050">
                <a:solidFill>
                  <a:srgbClr val="0D9488"/>
                </a:solidFill>
              </a:defRPr>
            </a:pPr>
            <a:r>
              <a:t>🕒 Layanan Dukungan Teknis: </a:t>
            </a:r>
            <a:r>
              <a:rPr b="0">
                <a:solidFill>
                  <a:srgbClr val="0B192C"/>
                </a:solidFill>
              </a:rPr>
              <a:t>Layanan Siaga 24/7 (24 Jam / 7 Hari)</a:t>
            </a:r>
          </a:p>
          <a:p>
            <a:pPr>
              <a:spcAft>
                <a:spcPts val="400"/>
              </a:spcAft>
              <a:defRPr b="1" sz="1050">
                <a:solidFill>
                  <a:srgbClr val="0D9488"/>
                </a:solidFill>
              </a:defRPr>
            </a:pPr>
            <a:r>
              <a:t>👤 Kontak Penyedia Jasa (WhatsApp): </a:t>
            </a:r>
            <a:r>
              <a:rPr b="0">
                <a:solidFill>
                  <a:srgbClr val="0B192C"/>
                </a:solidFill>
              </a:rPr>
              <a:t>082240206861 (Dendy Aditya)</a:t>
            </a:r>
          </a:p>
          <a:p>
            <a:pPr>
              <a:spcAft>
                <a:spcPts val="400"/>
              </a:spcAft>
              <a:defRPr b="1" sz="1050">
                <a:solidFill>
                  <a:srgbClr val="0D9488"/>
                </a:solidFill>
              </a:defRPr>
            </a:pPr>
            <a:r>
              <a:t>🌐 Website Perusahaan: </a:t>
            </a:r>
            <a:r>
              <a:rPr b="0">
                <a:solidFill>
                  <a:srgbClr val="0B192C"/>
                </a:solidFill>
              </a:rPr>
              <a:t>https://www.nattuglobalsynergy.co.id</a:t>
            </a:r>
          </a:p>
          <a:p>
            <a:pPr>
              <a:spcAft>
                <a:spcPts val="400"/>
              </a:spcAft>
              <a:defRPr b="1" sz="1050">
                <a:solidFill>
                  <a:srgbClr val="0D9488"/>
                </a:solidFill>
              </a:defRPr>
            </a:pPr>
            <a:r>
              <a:t>✉️ Email Resmi: </a:t>
            </a:r>
            <a:r>
              <a:rPr b="0">
                <a:solidFill>
                  <a:srgbClr val="0B192C"/>
                </a:solidFill>
              </a:rPr>
              <a:t>info@nattuglobalsynergy.co.id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